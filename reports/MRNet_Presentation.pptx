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9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topic: benchmarking three architectures on MRNet for automated knee MRI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seconds: motivate the clinical problem. Radiologist workload is high; ACL and meniscal injury rates are rising and often co-occur. This motivates automated triage support, building on Bien et al.'s MRNet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seconds: describe the MRNet dataset (1,370 exams, imbalanced labels, 85:15 train/val split, 119 held-out test), preprocessing, and the end-to-end pipeline from data to per-plane models to fusion to evaluation. Mention exploratory clustering found no physiological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60-second section: walk through the three architectures and their headline results, then the aggregate table — baseline ResNet18 leads (ROC-AUC 0.898) while Swin wins abnormality (0.928). Close with the Grad-CAM TP/FP/FN/TN examples on the ACL sagittal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60-second section: cover bias (male-skewed single-site data vs rising female ACL rates), label simplicity (binary labels miss co-occurring injury), and explainability limits (Grad-CAM diffuse on errors, used for analysis only). Then the deployment blockers — single-site data, partial imbalance fix, no calibration or prospective evaluation — briefly compare to the original MRNet benchmark, and close on the bottom line: feasible triage aid, not yet clinic-ready.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slide — available for audience questions, not part of the timed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3E8F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00400" cy="3200400"/>
          </a:xfrm>
          <a:prstGeom prst="ellipse">
            <a:avLst/>
          </a:prstGeom>
          <a:solidFill>
            <a:srgbClr val="6FC3B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E8FA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MRI · DEEP LEARNING BENCHMARK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Architectures for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Knee MRI Classification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· Attention-Pooling Fusion · Swin Transformer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621274"/>
            <a:ext cx="10058400" cy="69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- 1 | Sourabh Kumawat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Knee MRI review is slow, and injury burden is rising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knee MRI exam spans three anatomical planes and up to hundreds of slices, placing heavy demands on musculoskeletal radiologists.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reconstruction rates rose from 40.6 to 51.2 per 100,000 over 17 years, with growth concentrated among women and younger patients.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Meniscal tears are equally common: 52.8% require arthroscopic surgery, and 30.3% co-occur with ligament injury.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257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triage support could reduce reporting burden while flagging likely ACL and meniscal pathology for priority review.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78040" y="210312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90" y="2274570"/>
            <a:ext cx="342900" cy="342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0" y="1901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 → 51.2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46720" y="23957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reconstructions per 100k (17-yr rise)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49440" y="3355848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3721608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490" y="3893058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52.8%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046720" y="40142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meniscal tears needing arthroscopic surgery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49440" y="497433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8040" y="5340096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490" y="5511546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5138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30.3%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046720" y="563270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meniscal tears with concomitant ligament injury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MRNet: 1,370 exams, three planes, imbalanced labels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1,370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21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exams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169164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0B3D5C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80.6%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88920" y="2221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169164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37.1%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2221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meniscal tear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169164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69480" y="2221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tear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1691640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0B3D5C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960 / 170 / 119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509760" y="222199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212" y="30632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07592" y="3264408"/>
            <a:ext cx="502920" cy="502920"/>
          </a:xfrm>
          <a:prstGeom prst="ellipse">
            <a:avLst/>
          </a:prstGeom>
          <a:solidFill>
            <a:srgbClr val="3E8FA6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749" y="3377565"/>
            <a:ext cx="276606" cy="27660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4652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62940" y="42519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/ coronal /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volumes,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slice count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64892" y="3973068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2820924" y="30632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575304" y="3264408"/>
            <a:ext cx="502920" cy="502920"/>
          </a:xfrm>
          <a:prstGeom prst="ellipse">
            <a:avLst/>
          </a:prstGeom>
          <a:solidFill>
            <a:srgbClr val="3E8FA6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461" y="3377565"/>
            <a:ext cx="276606" cy="27660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912364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2930652" y="42519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norm,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rotation/flip/affine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832604" y="3973068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088636" y="30632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843016" y="3264408"/>
            <a:ext cx="502920" cy="502920"/>
          </a:xfrm>
          <a:prstGeom prst="ellipse">
            <a:avLst/>
          </a:prstGeom>
          <a:solidFill>
            <a:srgbClr val="3E8FA6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173" y="3377565"/>
            <a:ext cx="276606" cy="27660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180076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Per-plane models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5198364" y="42519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(max-pool),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(attention),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Swin-Tiny (attention)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100316" y="3973068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2"/>
          <p:cNvSpPr/>
          <p:nvPr/>
        </p:nvSpPr>
        <p:spPr>
          <a:xfrm>
            <a:off x="7356348" y="30632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8110728" y="3264408"/>
            <a:ext cx="502920" cy="502920"/>
          </a:xfrm>
          <a:prstGeom prst="ellipse">
            <a:avLst/>
          </a:prstGeom>
          <a:solidFill>
            <a:srgbClr val="3E8FA6"/>
          </a:solidFill>
          <a:ln/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885" y="3377565"/>
            <a:ext cx="276606" cy="27660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447788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fusion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7466076" y="42519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+ coronal +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combined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9368028" y="3973068"/>
            <a:ext cx="256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3" name="Shape 37"/>
          <p:cNvSpPr/>
          <p:nvPr/>
        </p:nvSpPr>
        <p:spPr>
          <a:xfrm>
            <a:off x="9624060" y="30632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10378440" y="3264408"/>
            <a:ext cx="502920" cy="502920"/>
          </a:xfrm>
          <a:prstGeom prst="ellipse">
            <a:avLst/>
          </a:prstGeom>
          <a:solidFill>
            <a:srgbClr val="3E8FA6"/>
          </a:solidFill>
          <a:ln/>
        </p:spPr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1597" y="3377565"/>
            <a:ext cx="276606" cy="276606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7155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47" name="Text 40"/>
          <p:cNvSpPr/>
          <p:nvPr/>
        </p:nvSpPr>
        <p:spPr>
          <a:xfrm>
            <a:off x="9733788" y="425196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PR-AUC,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sensitivity/specificity,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PCA/K-Means clustering of abnormal scans found no physiological grouping — clusters mixed ACL, meniscal and other pathology evenly.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architectures, one fusion strategy — baseline ResNet18 leads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753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575304" cy="457200"/>
          </a:xfrm>
          <a:prstGeom prst="roundRect">
            <a:avLst>
              <a:gd name="adj" fmla="val 14000"/>
            </a:avLst>
          </a:prstGeom>
          <a:solidFill>
            <a:srgbClr val="0B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3575304" cy="22860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ResNet18 + max pooling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1938528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 slice fusion · Adam, lr 1e-4</a:t>
            </a:r>
            <a:endParaRPr lang="en-US" sz="108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aggregate: ROC-AUC 0.898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06824" y="1371600"/>
            <a:ext cx="35753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6824" y="1371600"/>
            <a:ext cx="3575304" cy="457200"/>
          </a:xfrm>
          <a:prstGeom prst="roundRect">
            <a:avLst>
              <a:gd name="adj" fmla="val 14000"/>
            </a:avLst>
          </a:prstGeom>
          <a:solidFill>
            <a:srgbClr val="3E8FA6"/>
          </a:solidFill>
          <a:ln/>
        </p:spPr>
      </p:sp>
      <p:sp>
        <p:nvSpPr>
          <p:cNvPr id="11" name="Shape 9"/>
          <p:cNvSpPr/>
          <p:nvPr/>
        </p:nvSpPr>
        <p:spPr>
          <a:xfrm>
            <a:off x="4306824" y="1600200"/>
            <a:ext cx="3575304" cy="228600"/>
          </a:xfrm>
          <a:prstGeom prst="rect">
            <a:avLst/>
          </a:prstGeom>
          <a:solidFill>
            <a:srgbClr val="3E8FA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9704" y="13716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— ResNet18 + attention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07992" y="1938528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attention · 2-stage training</a:t>
            </a:r>
            <a:endParaRPr lang="en-US" sz="108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specificity: 76.3%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65008" y="1371600"/>
            <a:ext cx="357530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371600"/>
            <a:ext cx="3575304" cy="457200"/>
          </a:xfrm>
          <a:prstGeom prst="roundRect">
            <a:avLst>
              <a:gd name="adj" fmla="val 14000"/>
            </a:avLst>
          </a:prstGeom>
          <a:solidFill>
            <a:srgbClr val="6FC3B0"/>
          </a:solidFill>
          <a:ln/>
        </p:spPr>
      </p:sp>
      <p:sp>
        <p:nvSpPr>
          <p:cNvPr id="16" name="Shape 14"/>
          <p:cNvSpPr/>
          <p:nvPr/>
        </p:nvSpPr>
        <p:spPr>
          <a:xfrm>
            <a:off x="8065008" y="1600200"/>
            <a:ext cx="3575304" cy="228600"/>
          </a:xfrm>
          <a:prstGeom prst="rect">
            <a:avLst/>
          </a:prstGeom>
          <a:solidFill>
            <a:srgbClr val="6FC3B0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3716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ViT — Swin-Tiny + attention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66176" y="1938528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Shifted-window attn · Nelder–Mead fusion</a:t>
            </a:r>
            <a:endParaRPr lang="en-US" sz="108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abnormality: ROC-AUC 0.928</a:t>
            </a:r>
            <a:endParaRPr lang="en-US" sz="108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577840" cy="1499616"/>
        </p:xfrm>
        <a:graphic>
          <a:graphicData uri="http://schemas.openxmlformats.org/drawingml/2006/table">
            <a:tbl>
              <a:tblPr/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ResNet18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ResNet18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 ViT fusion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73.1%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355080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highlights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55080" y="3218688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3337560"/>
            <a:ext cx="164592" cy="164592"/>
          </a:xfrm>
          <a:prstGeom prst="ellipse">
            <a:avLst/>
          </a:prstGeom>
          <a:solidFill>
            <a:srgbClr val="6FC3B0"/>
          </a:solidFill>
          <a:ln/>
        </p:spPr>
      </p:sp>
      <p:sp>
        <p:nvSpPr>
          <p:cNvPr id="23" name="Text 20"/>
          <p:cNvSpPr/>
          <p:nvPr/>
        </p:nvSpPr>
        <p:spPr>
          <a:xfrm>
            <a:off x="6784848" y="32186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Abnormality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321040" y="32186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ViT — 0.928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6355080" y="3675888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92240" y="3794760"/>
            <a:ext cx="164592" cy="164592"/>
          </a:xfrm>
          <a:prstGeom prst="ellipse">
            <a:avLst/>
          </a:prstGeom>
          <a:solidFill>
            <a:srgbClr val="3E8FA6"/>
          </a:solidFill>
          <a:ln/>
        </p:spPr>
      </p:sp>
      <p:sp>
        <p:nvSpPr>
          <p:cNvPr id="27" name="Text 24"/>
          <p:cNvSpPr/>
          <p:nvPr/>
        </p:nvSpPr>
        <p:spPr>
          <a:xfrm>
            <a:off x="6784848" y="36758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tear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321040" y="36758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ResNet18 — 0.968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6355080" y="4133088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92240" y="4251960"/>
            <a:ext cx="164592" cy="164592"/>
          </a:xfrm>
          <a:prstGeom prst="ellipse">
            <a:avLst/>
          </a:prstGeom>
          <a:solidFill>
            <a:srgbClr val="E08E1D"/>
          </a:solidFill>
          <a:ln/>
        </p:spPr>
      </p:sp>
      <p:sp>
        <p:nvSpPr>
          <p:cNvPr id="31" name="Text 28"/>
          <p:cNvSpPr/>
          <p:nvPr/>
        </p:nvSpPr>
        <p:spPr>
          <a:xfrm>
            <a:off x="6784848" y="41330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Meniscal tear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321040" y="413308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task (≤0.804)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548640" y="4690872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0B3D5C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4800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error analysis </a:t>
            </a:r>
            <a:r>
              <a:rPr lang="en-US" sz="1150" i="1" dirty="0">
                <a:solidFill>
                  <a:srgbClr val="AF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(ACL / sagittal) — used for error analysis, not proof of radiologist-like reasoning</a:t>
            </a:r>
            <a:endParaRPr lang="en-US" sz="115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5780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124712" y="52212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777240" y="5605272"/>
            <a:ext cx="25488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centred on the ACL region — clinically plausible.</a:t>
            </a:r>
            <a:endParaRPr lang="en-US" sz="98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290" y="525780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810762" y="52212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3463290" y="5605272"/>
            <a:ext cx="25488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Diffuse, peripheral activation — non-specific features.</a:t>
            </a:r>
            <a:endParaRPr lang="en-US" sz="98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5257800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496812" y="52212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6149340" y="5605272"/>
            <a:ext cx="25488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ACL activation despite positive label — subtle tear missed.</a:t>
            </a:r>
            <a:endParaRPr lang="en-US" sz="98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390" y="5257800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9182862" y="522122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835390" y="5605272"/>
            <a:ext cx="25488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peripheral activation, not normal anatomy.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3E8FA6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Promising results, real gaps — not yet ready for the clinic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54480"/>
            <a:ext cx="457200" cy="457200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16687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9105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skew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10312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Single-site data: 801 male vs 569 female — ACL injury is rising fastest among women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06824" y="13716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7992" y="1554480"/>
            <a:ext cx="457200" cy="457200"/>
          </a:xfrm>
          <a:prstGeom prst="ellipse">
            <a:avLst/>
          </a:prstGeom>
          <a:solidFill>
            <a:srgbClr val="3E8FA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292" y="16687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4064" y="159105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simplicity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07992" y="210312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labels miss co-occurring ACL + meniscal injury; 20.2% of abnormal scans unannotated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065008" y="1371600"/>
            <a:ext cx="3575304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66176" y="1554480"/>
            <a:ext cx="457200" cy="457200"/>
          </a:xfrm>
          <a:prstGeom prst="ellipse">
            <a:avLst/>
          </a:prstGeom>
          <a:solidFill>
            <a:srgbClr val="6FC3B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76" y="166878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42248" y="159105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limits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66176" y="210312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was diffuse/peripheral on errors — used for error analysis only, not validated reasoning</a:t>
            </a:r>
            <a:endParaRPr lang="en-US" sz="1030" dirty="0"/>
          </a:p>
        </p:txBody>
      </p:sp>
      <p:sp>
        <p:nvSpPr>
          <p:cNvPr id="20" name="Text 15"/>
          <p:cNvSpPr/>
          <p:nvPr/>
        </p:nvSpPr>
        <p:spPr>
          <a:xfrm>
            <a:off x="608076" y="353236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F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blockers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338328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Single-institution data limits generalisation across scanners, protocols, and patient populations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only partially fixed — WGAN-GP lifted fool rate from ~20% to ~30%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probability calibration or prospective clinical evaluation performed yet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multi-centre, diverse data is required before clinical use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12280" y="3136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original MRNet benchmark (Bien et al.)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68680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68680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8686800" y="4315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0.804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583680" y="3474720"/>
            <a:ext cx="5056632" cy="1261872"/>
          </a:xfrm>
          <a:prstGeom prst="roundRect">
            <a:avLst>
              <a:gd name="adj" fmla="val 5185"/>
            </a:avLst>
          </a:prstGeom>
          <a:solidFill>
            <a:srgbClr val="3E8FA6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7" name="Text 32"/>
          <p:cNvSpPr/>
          <p:nvPr/>
        </p:nvSpPr>
        <p:spPr>
          <a:xfrm>
            <a:off x="6812280" y="36643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F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808304" y="378521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a feasible triage aid for ACL and meniscal pathology — pending external validation, calibration, and prospective testing.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20" y="14401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3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49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Bien, N., Rajpurkar, P., Ball, R.L., et al.: Deep-learning-assisted diagnosis for knee MRI: Development and retrospective validation of MRNet. PLoS Medicine 15(11), e1002699 (2018).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Paudel, Y.R., Sommerfeldt, M., Voaklander, D.: Increasing incidence of anterior cruciate ligament reconstruction: A 17-year population-based study. Knee Surg. Sports Traumatol. Arthrosc. 31(1), 248–255 (2022).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Tropf, J.G., Colantonio, D.F., Tucker, C.J., Rhon, D.I.: Epidemiology of meniscus injuries in the Military Health System and predictive factors for arthroscopic surgery. J. Knee Surg. 35(10), 1048–1055 (2022).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Kilcoyne, K.G., Dickens, J.F., Haniuk, E., et al.: Epidemiology of meniscal injury associated with ACL tears in young athletes. Orthopedics 35(3), 208–212 (2012).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Minamoto, Y., Akagi, R., Maki, S., et al.: Automated detection of anterior cruciate ligament tears using a deep convolutional neural network. BMC Musculoskelet. Disord. 23(1), 577 (2022).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Yang, Y., Yan, L.F., Zhang, X., et al.: Glioma grading on conventional MR images: A deep learning study with transfer learning. Front. Neurosci. 12, 804 (2018).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63640" y="1600200"/>
            <a:ext cx="5349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Liu, Z., Lv, Q., Lee, C.H., Shen, L.: GSDA: GAN-based semi-supervised data augmentation for ultrasound image classification. Heliyon 9(9), e19585 (2023).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Ali, H., Mohsen, F., Shah, Z.: Improving diagnosis and prognosis of lung cancer using vision transformers: A scoping review. BMC Med. Imaging 23(1), 129 (2023).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Selvaraju, R.R., Cogswell, M., Das, A., et al.: Grad-CAM: Visual explanations from deep networks via gradient-based localization. In: Proc. IEEE ICCV, pp. 618–626 (2017).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Haupt, M., Maurer, M.H., Thomas, R.P.: Explainable artificial intelligence in radiological cardiovascular imaging: A systematic review. Diagnostics 15(11) (2025).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16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Gao, Y., Zhang, Y., Hu, C., et al.: Distinguishing infectivity in patients with pulmonary tuberculosis using deep learning. Front. Public Health 11, 1247141 (2023).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1317</Words>
  <Application>Microsoft Office PowerPoint</Application>
  <PresentationFormat>Widescreen</PresentationFormat>
  <Paragraphs>144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Benchmarking Deep Learning Architectures for Automated Knee MRI Classification</dc:title>
  <dc:subject>PptxGenJS Presentation</dc:subject>
  <dc:creator>Dmochowska, Guo, Kumawat, Morgan, Nugent, Segestaal, Skosyreva</dc:creator>
  <cp:lastModifiedBy>sourabh kumawat</cp:lastModifiedBy>
  <cp:revision>4</cp:revision>
  <dcterms:created xsi:type="dcterms:W3CDTF">2026-07-02T21:52:39Z</dcterms:created>
  <dcterms:modified xsi:type="dcterms:W3CDTF">2026-07-02T22:18:12Z</dcterms:modified>
</cp:coreProperties>
</file>